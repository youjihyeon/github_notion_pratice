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744" y="18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24826-32E3-3649-5403-244AEC14A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2D442A-159F-9F6E-316A-049DDCFDA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FD60D-34E0-0F76-17BA-2745BA1D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12A1C-7E60-5674-E1E2-1887A0EA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63F212-EF74-7250-4AF8-79880679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90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B1E2D-0A45-41CA-3EF3-16381141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69EDE-9A93-F999-2DDC-38018B86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6E880-11E0-398A-E66D-F97EB8D3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98DC0-8B78-1906-28A7-BB1D1829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6983C-13D8-27A3-C5F8-22F90E90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6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CC263-672B-0339-4476-4D82E35E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9229C2-DDF7-4841-5C42-EEE55314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DDCAB1-4264-C099-B9CC-FAF0DA8C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02C7ED-83D8-9E36-4DF6-AD888AC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BA91B-63BE-43BC-CA44-E5D2CA7D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67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CA236-50AC-20A4-4547-0C1CCF4A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2C4267-372C-6F2C-5B4F-E96AF9549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D6288-54BB-F01A-A6E5-CD9F21266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F9D586-54CA-7446-FE20-EF91BECE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E95CC3-2A7D-84D9-F413-D477DB0A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607203-B050-CAD5-1341-FACDD334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12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0BF41-AB9F-6B86-2706-185A15D3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27BB1-5110-F53F-9AC1-DF25DF399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2BEB16-5DE0-DF61-F795-2711A4EDD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663B7A-2B0B-00CB-002A-71C0CE51A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BA5455-4E74-7E36-A96B-9B30C4F50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103EB-90D6-0142-43A3-F98235D9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BD9CA-41E7-B9CA-3BA7-360613E8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4B8E3F-5700-0F4E-6EB0-90523CEF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83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1CF86-5FB9-7201-3B3E-C4ACE76B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09CEA4-806E-66BF-482F-97BD9F2D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CCEEA0-44FE-24DD-199E-151CF13A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5F8E1D-820A-FD94-CEC4-ACB399E9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3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9DF3C3-82E8-1F37-7D6A-E302AA13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060310-9983-56D3-0D83-5858EFD2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5F8BF-B234-8234-86F2-DE6EB08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18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DE572-C807-0714-D951-3DADBB99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D6951-4DBA-315B-B6AD-77E119032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5BE0DF-D885-0C02-0F89-CF9AC9A87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10F8E-968B-5927-9AD7-86D75C54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F3DFAD-FDB4-AFCE-41C6-DBE68114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09A7D3-85FE-E18B-AC32-0F718DA8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3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F0C0B-131B-4A1A-53AA-FB32A530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A83364-5D50-BE36-B320-416CB933D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3C007-AB96-9E32-35D0-B41BE93DB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665D7-C6A1-3DCF-11C6-ED8B392C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CB64A3-0D3E-628A-307E-3D9D581A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BE809F-689F-D579-5E4C-23E12DE3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96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1F7A1-3D86-D4F1-E39C-F6066E4C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DC9F51-CB42-B03B-B49A-A0BB1E92E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E1FDC-1D09-599C-9BE3-D2FC3271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1B6CC6-B784-81B8-96AF-BC947916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39365-4B0B-98BA-76EC-3F2838AF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83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BB0723-0405-424B-CE7D-56D87D42E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063913-D098-9910-82CF-4D5CE18C1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87AF8-4F96-35B7-2558-3467F3A1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FF2897-C5AD-38EB-2E3E-9B1EC9FD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DF36C8-7562-15AC-0020-2975B3A2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5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7E5EDA-D1E7-ADD6-C8B6-A1E15F48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E9570-309B-B62A-6FE5-BEEB5092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2E222-5DFB-836B-6E9A-BA598B835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1FCB0-AF82-44ED-B2C2-5195A7D18320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F95DD-3B69-8D92-D90B-D3BAE891F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B0FFF-5B88-C939-0B67-6D8867FB4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97DFB-9687-4ED9-B329-50B74E991C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6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https://www.sciencedirect.com/science/article/pii/S0278691503003272?ref=pdf_download&amp;fr=RR-2&amp;rr=877b6ec37a4cc0f8&amp;subject=G.J.%20Nohynek%20et%20al.%20/%20Food%20and%20Chemical%20Toxicology%2042%20(2004)%20517&#8211;543" TargetMode="External"/><Relationship Id="rId7" Type="http://schemas.openxmlformats.org/officeDocument/2006/relationships/hyperlink" Target="mailto:https://www.scopus.com/record/display.uri?eid=2-s2.0-84893298542&amp;origin=inwar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https://www.sciencedirect.com/science/article/pii/S0160412016300186?ref=pdf_download&amp;fr=RR-2&amp;rr=877e20ccce733268" TargetMode="External"/><Relationship Id="rId4" Type="http://schemas.openxmlformats.org/officeDocument/2006/relationships/image" Target="../media/image2.png"/><Relationship Id="rId9" Type="http://schemas.openxmlformats.org/officeDocument/2006/relationships/hyperlink" Target="mailto:https://dermnetnz.org/topics/allergy-to-paraphenylenediamine?subject=https://dermnetnz.org/topics/allergy-to-paraphenylenediamin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D17DC1-07BB-7DC9-A5E1-132D7A2A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91" y="1576478"/>
            <a:ext cx="4004917" cy="2232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2344-5FA4-8121-F018-3E4FE7A6073C}"/>
              </a:ext>
            </a:extLst>
          </p:cNvPr>
          <p:cNvSpPr txBox="1"/>
          <p:nvPr/>
        </p:nvSpPr>
        <p:spPr>
          <a:xfrm flipH="1">
            <a:off x="308001" y="4039495"/>
            <a:ext cx="42197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3"/>
              </a:rPr>
              <a:t>G.J. </a:t>
            </a:r>
            <a:r>
              <a:rPr lang="en-US" altLang="ko-KR" sz="900" dirty="0" err="1">
                <a:hlinkClick r:id="rId3"/>
              </a:rPr>
              <a:t>Nohynek</a:t>
            </a:r>
            <a:r>
              <a:rPr lang="en-US" altLang="ko-KR" sz="900" dirty="0">
                <a:hlinkClick r:id="rId3"/>
              </a:rPr>
              <a:t> et al. / Food and Chemical Toxicology 42 (2004) 517–543</a:t>
            </a:r>
            <a:endParaRPr lang="ko-KR" altLang="en-US" sz="9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83FC4BC-5CC7-525D-AC20-2B9D2C014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31" y="4943579"/>
            <a:ext cx="3260794" cy="11568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960A54-AB46-C7A5-A9F9-A70024E3B3B2}"/>
              </a:ext>
            </a:extLst>
          </p:cNvPr>
          <p:cNvSpPr txBox="1"/>
          <p:nvPr/>
        </p:nvSpPr>
        <p:spPr>
          <a:xfrm>
            <a:off x="308001" y="6100417"/>
            <a:ext cx="36423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sz="900" dirty="0">
                <a:hlinkClick r:id="rId5"/>
              </a:rPr>
              <a:t>K.-H. Kim et al. / </a:t>
            </a:r>
            <a:r>
              <a:rPr lang="fr-FR" altLang="ko-KR" sz="900" dirty="0" err="1">
                <a:hlinkClick r:id="rId5"/>
              </a:rPr>
              <a:t>Environment</a:t>
            </a:r>
            <a:r>
              <a:rPr lang="fr-FR" altLang="ko-KR" sz="900" dirty="0">
                <a:hlinkClick r:id="rId5"/>
              </a:rPr>
              <a:t> International 89–90 (2016) 222–227</a:t>
            </a:r>
            <a:endParaRPr lang="ko-KR" altLang="en-US" sz="9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DE4BA3-B5B9-D7EF-A58A-54504A11A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574" y="757583"/>
            <a:ext cx="3662680" cy="29831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3DE838-308D-F09E-2A0B-26B865445A9C}"/>
              </a:ext>
            </a:extLst>
          </p:cNvPr>
          <p:cNvSpPr txBox="1"/>
          <p:nvPr/>
        </p:nvSpPr>
        <p:spPr>
          <a:xfrm flipH="1">
            <a:off x="8021622" y="3675250"/>
            <a:ext cx="11256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7"/>
              </a:rPr>
              <a:t>Patel et al., 2013</a:t>
            </a:r>
            <a:endParaRPr lang="ko-KR" altLang="en-US" sz="9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605517-0E5C-0F51-FA2A-F47AC3261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7586" y="4523080"/>
            <a:ext cx="4912656" cy="15773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42CB754-4751-2726-F21F-AEED18E9DAD9}"/>
              </a:ext>
            </a:extLst>
          </p:cNvPr>
          <p:cNvSpPr txBox="1"/>
          <p:nvPr/>
        </p:nvSpPr>
        <p:spPr>
          <a:xfrm flipH="1">
            <a:off x="7496427" y="6080365"/>
            <a:ext cx="27124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allergy-to-paraphenylenediamine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7776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0AC5D-95F1-7B34-7AF7-E99E47FF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24333B-2BC2-9952-2C2C-B73674302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0" y="1825625"/>
            <a:ext cx="4221480" cy="3762375"/>
          </a:xfrm>
        </p:spPr>
        <p:txBody>
          <a:bodyPr>
            <a:normAutofit/>
          </a:bodyPr>
          <a:lstStyle/>
          <a:p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Aesthetically, hair dyes are also known to cause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hair damage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, as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bleaching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agents modify and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deteriorate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the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ultrastructure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of hair. Compounds such as 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ammonia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, which is commonly used in dye products, are required to open the cuticle to allow pigment infiltration of the cortex. However, in many cases, the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cuticle fails to re-seal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leading to damage. Our solution is to use a </a:t>
            </a:r>
            <a:r>
              <a:rPr lang="en-US" altLang="ko-KR" sz="1600" b="1" i="0" dirty="0">
                <a:solidFill>
                  <a:srgbClr val="FF0066"/>
                </a:solidFill>
                <a:effectLst/>
                <a:highlight>
                  <a:srgbClr val="EFEFF0"/>
                </a:highlight>
              </a:rPr>
              <a:t>protein-based chromophore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to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bind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to the </a:t>
            </a:r>
            <a:r>
              <a:rPr lang="en-US" altLang="ko-KR" sz="1600" b="0" i="0" dirty="0">
                <a:solidFill>
                  <a:srgbClr val="990099"/>
                </a:solidFill>
                <a:effectLst/>
                <a:highlight>
                  <a:srgbClr val="EFEFF0"/>
                </a:highlight>
              </a:rPr>
              <a:t>outer layer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highlight>
                  <a:srgbClr val="EFEFF0"/>
                </a:highlight>
              </a:rPr>
              <a:t> of the hair. This is a much safer alternative as it reduces the need for harsh chemicals and bleaching to get pigments into the hair (Figure 1).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205901-D2EB-3FF8-78F5-22CB92D9D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3" y="1794298"/>
            <a:ext cx="6667195" cy="405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3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0742F-156C-7B3C-DE7E-B9046363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710327"/>
            <a:ext cx="1965960" cy="1325563"/>
          </a:xfrm>
        </p:spPr>
        <p:txBody>
          <a:bodyPr>
            <a:normAutofit/>
          </a:bodyPr>
          <a:lstStyle/>
          <a:p>
            <a:r>
              <a:rPr lang="ko-KR" altLang="en-US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테트라사이클린이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없는 경우에는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TetR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단백질이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operon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의 발현을 억제하여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tetA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의 발현을 막습니다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. 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그러나 </a:t>
            </a:r>
            <a:r>
              <a:rPr lang="ko-KR" altLang="en-US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테트라사이클린이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존재하는 경우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, </a:t>
            </a:r>
            <a:r>
              <a:rPr lang="ko-KR" altLang="en-US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테트라사이클린과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TetR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사이의 상호 작용으로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TetR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이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 operon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을 해제하고 </a:t>
            </a:r>
            <a:r>
              <a:rPr lang="en-US" altLang="ko-KR" sz="1000" b="0" i="0" dirty="0" err="1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tetA</a:t>
            </a:r>
            <a:r>
              <a:rPr lang="ko-KR" altLang="en-US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의 발현을 허용합니다</a:t>
            </a:r>
            <a:r>
              <a:rPr lang="en-US" altLang="ko-KR" sz="1000" b="0" i="0" dirty="0">
                <a:solidFill>
                  <a:srgbClr val="ECECEC"/>
                </a:solidFill>
                <a:effectLst/>
                <a:highlight>
                  <a:srgbClr val="000000"/>
                </a:highlight>
                <a:latin typeface="Söhne"/>
              </a:rPr>
              <a:t>. </a:t>
            </a:r>
            <a:endParaRPr lang="ko-KR" altLang="en-US" sz="1000" dirty="0">
              <a:highlight>
                <a:srgbClr val="000000"/>
              </a:highlight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51C971B-2143-8705-C3AB-C98E6DDEC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005" y="239554"/>
            <a:ext cx="7143750" cy="2362200"/>
          </a:xfr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F98B3A3-671A-969D-1418-216575ADD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93713"/>
              </p:ext>
            </p:extLst>
          </p:nvPr>
        </p:nvGraphicFramePr>
        <p:xfrm>
          <a:off x="233680" y="2506662"/>
          <a:ext cx="10800080" cy="4608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6602">
                  <a:extLst>
                    <a:ext uri="{9D8B030D-6E8A-4147-A177-3AD203B41FA5}">
                      <a16:colId xmlns:a16="http://schemas.microsoft.com/office/drawing/2014/main" val="1090595279"/>
                    </a:ext>
                  </a:extLst>
                </a:gridCol>
                <a:gridCol w="2260482">
                  <a:extLst>
                    <a:ext uri="{9D8B030D-6E8A-4147-A177-3AD203B41FA5}">
                      <a16:colId xmlns:a16="http://schemas.microsoft.com/office/drawing/2014/main" val="193868739"/>
                    </a:ext>
                  </a:extLst>
                </a:gridCol>
                <a:gridCol w="950838">
                  <a:extLst>
                    <a:ext uri="{9D8B030D-6E8A-4147-A177-3AD203B41FA5}">
                      <a16:colId xmlns:a16="http://schemas.microsoft.com/office/drawing/2014/main" val="3530374462"/>
                    </a:ext>
                  </a:extLst>
                </a:gridCol>
                <a:gridCol w="950838">
                  <a:extLst>
                    <a:ext uri="{9D8B030D-6E8A-4147-A177-3AD203B41FA5}">
                      <a16:colId xmlns:a16="http://schemas.microsoft.com/office/drawing/2014/main" val="4000946854"/>
                    </a:ext>
                  </a:extLst>
                </a:gridCol>
                <a:gridCol w="950838">
                  <a:extLst>
                    <a:ext uri="{9D8B030D-6E8A-4147-A177-3AD203B41FA5}">
                      <a16:colId xmlns:a16="http://schemas.microsoft.com/office/drawing/2014/main" val="2236971284"/>
                    </a:ext>
                  </a:extLst>
                </a:gridCol>
                <a:gridCol w="753494">
                  <a:extLst>
                    <a:ext uri="{9D8B030D-6E8A-4147-A177-3AD203B41FA5}">
                      <a16:colId xmlns:a16="http://schemas.microsoft.com/office/drawing/2014/main" val="993691341"/>
                    </a:ext>
                  </a:extLst>
                </a:gridCol>
                <a:gridCol w="753494">
                  <a:extLst>
                    <a:ext uri="{9D8B030D-6E8A-4147-A177-3AD203B41FA5}">
                      <a16:colId xmlns:a16="http://schemas.microsoft.com/office/drawing/2014/main" val="1035011837"/>
                    </a:ext>
                  </a:extLst>
                </a:gridCol>
                <a:gridCol w="753494">
                  <a:extLst>
                    <a:ext uri="{9D8B030D-6E8A-4147-A177-3AD203B41FA5}">
                      <a16:colId xmlns:a16="http://schemas.microsoft.com/office/drawing/2014/main" val="1846034939"/>
                    </a:ext>
                  </a:extLst>
                </a:gridCol>
              </a:tblGrid>
              <a:tr h="1172278">
                <a:tc>
                  <a:txBody>
                    <a:bodyPr/>
                    <a:lstStyle/>
                    <a:p>
                      <a:pPr algn="l" fontAlgn="ctr"/>
                      <a:r>
                        <a:rPr lang="it-IT" sz="1000" u="none" strike="noStrike">
                          <a:effectLst/>
                        </a:rPr>
                        <a:t>Outer membrane peptide A (OmpA)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type II secretion system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cleaved by the secretion machinery in the plasma membrane of the bacterium.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secreted and released in an active mature form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reported high efficiency of secretion during high protein expression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N-terminal secretion signal sequences</a:t>
                      </a: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156879"/>
                  </a:ext>
                </a:extLst>
              </a:tr>
              <a:tr h="1609399">
                <a:tc>
                  <a:txBody>
                    <a:bodyPr/>
                    <a:lstStyle/>
                    <a:p>
                      <a:pPr algn="l" fontAlgn="ctr"/>
                      <a:r>
                        <a:rPr lang="el-GR" sz="1000" u="none" strike="noStrike" dirty="0">
                          <a:effectLst/>
                        </a:rPr>
                        <a:t>α-</a:t>
                      </a:r>
                      <a:r>
                        <a:rPr lang="en-US" sz="1000" u="none" strike="noStrike" dirty="0">
                          <a:effectLst/>
                        </a:rPr>
                        <a:t>hemolysin (</a:t>
                      </a:r>
                      <a:r>
                        <a:rPr lang="en-US" sz="1000" u="none" strike="noStrike" dirty="0" err="1">
                          <a:effectLst/>
                        </a:rPr>
                        <a:t>HylA</a:t>
                      </a:r>
                      <a:r>
                        <a:rPr lang="en-US" sz="1000" u="none" strike="noStrike" dirty="0">
                          <a:effectLst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type I secretion system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efficient secretion of active correctly folded proteins to the culture supernatant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from the bacterial cytoplasm to the extracellular medium without a periplasmic intermediate of tagged proteins.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not become cleaved after trafficking across the bacterial membrane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C-terminal secretion signal</a:t>
                      </a: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948261"/>
                  </a:ext>
                </a:extLst>
              </a:tr>
              <a:tr h="2980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promoter (tetR)</a:t>
                      </a: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strongly regulated promoter, minimises leakiness to avoid toxic protein aggregation and allows controlled expression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852495"/>
                  </a:ext>
                </a:extLst>
              </a:tr>
              <a:tr h="192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terminators (</a:t>
                      </a:r>
                      <a:r>
                        <a:rPr lang="en-US" sz="800" u="none" strike="noStrike" dirty="0" err="1">
                          <a:effectLst/>
                        </a:rPr>
                        <a:t>rrnB</a:t>
                      </a:r>
                      <a:r>
                        <a:rPr lang="en-US" sz="800" u="none" strike="noStrike" dirty="0">
                          <a:effectLst/>
                        </a:rPr>
                        <a:t> T1 terminator</a:t>
                      </a:r>
                      <a:endParaRPr lang="en-US" sz="800" b="0" i="0" u="none" strike="noStrike" dirty="0">
                        <a:solidFill>
                          <a:srgbClr val="80808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extLst>
                  <a:ext uri="{0D108BD9-81ED-4DB2-BD59-A6C34878D82A}">
                    <a16:rowId xmlns:a16="http://schemas.microsoft.com/office/drawing/2014/main" val="416819365"/>
                  </a:ext>
                </a:extLst>
              </a:tr>
              <a:tr h="192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T7 terminator</a:t>
                      </a: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extLst>
                  <a:ext uri="{0D108BD9-81ED-4DB2-BD59-A6C34878D82A}">
                    <a16:rowId xmlns:a16="http://schemas.microsoft.com/office/drawing/2014/main" val="139638595"/>
                  </a:ext>
                </a:extLst>
              </a:tr>
              <a:tr h="2980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hydrophobic tag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we decided to adapt this to enable our </a:t>
                      </a:r>
                      <a:r>
                        <a:rPr lang="en-US" sz="1000" u="none" strike="noStrike" dirty="0" err="1">
                          <a:effectLst/>
                        </a:rPr>
                        <a:t>coloured</a:t>
                      </a:r>
                      <a:r>
                        <a:rPr lang="en-US" sz="1000" u="none" strike="noStrike" dirty="0">
                          <a:effectLst/>
                        </a:rPr>
                        <a:t> proteins to embed in the hydrophobic beta-layer of the cortex of hair.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able to interact with the cuticle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485646"/>
                  </a:ext>
                </a:extLst>
              </a:tr>
              <a:tr h="5894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pBBR1 origin of replication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the second highest copy number plasmid with around 20 copies per cell from BglBrick plasmids library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maximise</a:t>
                      </a:r>
                      <a:r>
                        <a:rPr lang="en-US" sz="1000" u="none" strike="noStrike" dirty="0">
                          <a:effectLst/>
                        </a:rPr>
                        <a:t> production and lower cell burden by cloning the hair repair (decapeptide)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623" marR="6623" marT="662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5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42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72901-880E-2C73-AF72-B48E96DF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08ED7D-5D41-FF2E-137C-9796B47B0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85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368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Söhne</vt:lpstr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테트라사이클린이 없는 경우에는 TetR 단백질이 tet operon의 발현을 억제하여 tetA의 발현을 막습니다. 그러나 테트라사이클린이 존재하는 경우, 테트라사이클린과 TetR 사이의 상호 작용으로 TetR이 tet operon을 해제하고 tetA의 발현을 허용합니다.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지현 유</dc:creator>
  <cp:lastModifiedBy>지현 유</cp:lastModifiedBy>
  <cp:revision>1</cp:revision>
  <dcterms:created xsi:type="dcterms:W3CDTF">2024-04-21T07:09:04Z</dcterms:created>
  <dcterms:modified xsi:type="dcterms:W3CDTF">2024-04-21T16:38:28Z</dcterms:modified>
</cp:coreProperties>
</file>
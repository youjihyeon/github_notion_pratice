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051" y="187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524826-32E3-3649-5403-244AEC14A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2D442A-159F-9F6E-316A-049DDCFDA8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1FD60D-34E0-0F76-17BA-2745BA1DA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A12A1C-7E60-5674-E1E2-1887A0EA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63F212-EF74-7250-4AF8-798806795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905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B1E2D-0A45-41CA-3EF3-16381141C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669EDE-9A93-F999-2DDC-38018B862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D6E880-11E0-398A-E66D-F97EB8D3F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898DC0-8B78-1906-28A7-BB1D1829D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06983C-13D8-27A3-C5F8-22F90E90D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65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CC263-672B-0339-4476-4D82E35E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9229C2-DDF7-4841-5C42-EEE55314A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DDCAB1-4264-C099-B9CC-FAF0DA8C8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02C7ED-83D8-9E36-4DF6-AD888AC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6BA91B-63BE-43BC-CA44-E5D2CA7D5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670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CA236-50AC-20A4-4547-0C1CCF4AF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2C4267-372C-6F2C-5B4F-E96AF9549F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ED6288-54BB-F01A-A6E5-CD9F21266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F9D586-54CA-7446-FE20-EF91BECEC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E95CC3-2A7D-84D9-F413-D477DB0AD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607203-B050-CAD5-1341-FACDD3343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121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0BF41-AB9F-6B86-2706-185A15D30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27BB1-5110-F53F-9AC1-DF25DF399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2BEB16-5DE0-DF61-F795-2711A4EDD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663B7A-2B0B-00CB-002A-71C0CE51A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BA5455-4E74-7E36-A96B-9B30C4F50D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20103EB-90D6-0142-43A3-F98235D91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BD9CA-41E7-B9CA-3BA7-360613E8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D4B8E3F-5700-0F4E-6EB0-90523CEF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5830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1CF86-5FB9-7201-3B3E-C4ACE76B7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F09CEA4-806E-66BF-482F-97BD9F2D0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CCEEA0-44FE-24DD-199E-151CF13A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5F8E1D-820A-FD94-CEC4-ACB399E9F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338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D9DF3C3-82E8-1F37-7D6A-E302AA13D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A060310-9983-56D3-0D83-5858EFD2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5F8BF-B234-8234-86F2-DE6EB0857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6189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5DE572-C807-0714-D951-3DADBB99E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CD6951-4DBA-315B-B6AD-77E119032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5BE0DF-D885-0C02-0F89-CF9AC9A87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D10F8E-968B-5927-9AD7-86D75C54C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F3DFAD-FDB4-AFCE-41C6-DBE68114B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09A7D3-85FE-E18B-AC32-0F718DA80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3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F0C0B-131B-4A1A-53AA-FB32A5307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A83364-5D50-BE36-B320-416CB933DF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63C007-AB96-9E32-35D0-B41BE93DB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B665D7-C6A1-3DCF-11C6-ED8B392C0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CB64A3-0D3E-628A-307E-3D9D581AD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BE809F-689F-D579-5E4C-23E12DE3F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962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1F7A1-3D86-D4F1-E39C-F6066E4C4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DC9F51-CB42-B03B-B49A-A0BB1E92E6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0E1FDC-1D09-599C-9BE3-D2FC3271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1B6CC6-B784-81B8-96AF-BC947916A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B39365-4B0B-98BA-76EC-3F2838AF7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483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CBB0723-0405-424B-CE7D-56D87D42E5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063913-D098-9910-82CF-4D5CE18C17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987AF8-4F96-35B7-2558-3467F3A15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FF2897-C5AD-38EB-2E3E-9B1EC9FD7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DF36C8-7562-15AC-0020-2975B3A2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54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7E5EDA-D1E7-ADD6-C8B6-A1E15F48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E9570-309B-B62A-6FE5-BEEB50929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12E222-5DFB-836B-6E9A-BA598B8358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21FCB0-AF82-44ED-B2C2-5195A7D18320}" type="datetimeFigureOut">
              <a:rPr lang="ko-KR" altLang="en-US" smtClean="0"/>
              <a:t>2024-04-22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3F95DD-3B69-8D92-D90B-D3BAE891FB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8B0FFF-5B88-C939-0B67-6D8867FB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97DFB-9687-4ED9-B329-50B74E991C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86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https://www.sciencedirect.com/science/article/pii/S0278691503003272?ref=pdf_download&amp;fr=RR-2&amp;rr=877b6ec37a4cc0f8&amp;subject=G.J.%20Nohynek%20et%20al.%20/%20Food%20and%20Chemical%20Toxicology%2042%20(2004)%20517&#8211;543" TargetMode="External"/><Relationship Id="rId7" Type="http://schemas.openxmlformats.org/officeDocument/2006/relationships/hyperlink" Target="mailto:https://www.scopus.com/record/display.uri?eid=2-s2.0-84893298542&amp;origin=inward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mailto:https://www.sciencedirect.com/science/article/pii/S0160412016300186?ref=pdf_download&amp;fr=RR-2&amp;rr=877e20ccce733268" TargetMode="External"/><Relationship Id="rId4" Type="http://schemas.openxmlformats.org/officeDocument/2006/relationships/image" Target="../media/image2.png"/><Relationship Id="rId9" Type="http://schemas.openxmlformats.org/officeDocument/2006/relationships/hyperlink" Target="mailto:https://dermnetnz.org/topics/allergy-to-paraphenylenediamine?subject=https://dermnetnz.org/topics/allergy-to-paraphenylenediamine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ncbi.nlm.nih.gov/pmc/articles/PMC10403243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9D17DC1-07BB-7DC9-A5E1-132D7A2AF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91" y="1576478"/>
            <a:ext cx="4004917" cy="2232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172344-5FA4-8121-F018-3E4FE7A6073C}"/>
              </a:ext>
            </a:extLst>
          </p:cNvPr>
          <p:cNvSpPr txBox="1"/>
          <p:nvPr/>
        </p:nvSpPr>
        <p:spPr>
          <a:xfrm flipH="1">
            <a:off x="308001" y="4039495"/>
            <a:ext cx="42197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hlinkClick r:id="rId3"/>
              </a:rPr>
              <a:t>G.J. </a:t>
            </a:r>
            <a:r>
              <a:rPr lang="en-US" altLang="ko-KR" sz="900" dirty="0" err="1">
                <a:hlinkClick r:id="rId3"/>
              </a:rPr>
              <a:t>Nohynek</a:t>
            </a:r>
            <a:r>
              <a:rPr lang="en-US" altLang="ko-KR" sz="900" dirty="0">
                <a:hlinkClick r:id="rId3"/>
              </a:rPr>
              <a:t> et al. / Food and Chemical Toxicology 42 (2004) 517–543</a:t>
            </a:r>
            <a:endParaRPr lang="ko-KR" altLang="en-US" sz="9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83FC4BC-5CC7-525D-AC20-2B9D2C014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31" y="4943579"/>
            <a:ext cx="3260794" cy="11568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960A54-AB46-C7A5-A9F9-A70024E3B3B2}"/>
              </a:ext>
            </a:extLst>
          </p:cNvPr>
          <p:cNvSpPr txBox="1"/>
          <p:nvPr/>
        </p:nvSpPr>
        <p:spPr>
          <a:xfrm>
            <a:off x="308001" y="6100417"/>
            <a:ext cx="36423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ko-KR" sz="900" dirty="0">
                <a:hlinkClick r:id="rId5"/>
              </a:rPr>
              <a:t>K.-H. Kim et al. / </a:t>
            </a:r>
            <a:r>
              <a:rPr lang="fr-FR" altLang="ko-KR" sz="900" dirty="0" err="1">
                <a:hlinkClick r:id="rId5"/>
              </a:rPr>
              <a:t>Environment</a:t>
            </a:r>
            <a:r>
              <a:rPr lang="fr-FR" altLang="ko-KR" sz="900" dirty="0">
                <a:hlinkClick r:id="rId5"/>
              </a:rPr>
              <a:t> International 89–90 (2016) 222–227</a:t>
            </a:r>
            <a:endParaRPr lang="ko-KR" altLang="en-US" sz="9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4DE4BA3-B5B9-D7EF-A58A-54504A11A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2574" y="757583"/>
            <a:ext cx="3662680" cy="29831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3DE838-308D-F09E-2A0B-26B865445A9C}"/>
              </a:ext>
            </a:extLst>
          </p:cNvPr>
          <p:cNvSpPr txBox="1"/>
          <p:nvPr/>
        </p:nvSpPr>
        <p:spPr>
          <a:xfrm flipH="1">
            <a:off x="8021622" y="3675250"/>
            <a:ext cx="11256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hlinkClick r:id="rId7"/>
              </a:rPr>
              <a:t>Patel et al., 2013</a:t>
            </a:r>
            <a:endParaRPr lang="ko-KR" altLang="en-US" sz="9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E605517-0E5C-0F51-FA2A-F47AC32619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7586" y="4523080"/>
            <a:ext cx="4912656" cy="15773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42CB754-4751-2726-F21F-AEED18E9DAD9}"/>
              </a:ext>
            </a:extLst>
          </p:cNvPr>
          <p:cNvSpPr txBox="1"/>
          <p:nvPr/>
        </p:nvSpPr>
        <p:spPr>
          <a:xfrm flipH="1">
            <a:off x="7496427" y="6080365"/>
            <a:ext cx="27124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hlinkClick r:id="rId9"/>
              </a:rPr>
              <a:t>allergy-to-paraphenylenediamine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577762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40AC5D-95F1-7B34-7AF7-E99E47FF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24333B-2BC2-9952-2C2C-B73674302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0" y="1825625"/>
            <a:ext cx="4221480" cy="3762375"/>
          </a:xfrm>
        </p:spPr>
        <p:txBody>
          <a:bodyPr>
            <a:normAutofit/>
          </a:bodyPr>
          <a:lstStyle/>
          <a:p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Aesthetically, hair dyes are also known to cause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hair damage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, as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bleaching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agents modify and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deteriorate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the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ultrastructure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of hair. Compounds such as </a:t>
            </a:r>
            <a:r>
              <a:rPr lang="en-US" altLang="ko-KR" sz="1600" b="1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ammonia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, which is commonly used in dye products, are required to open the cuticle to allow pigment infiltration of the cortex. However, in many cases, the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cuticle fails to re-seal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leading to damage. Our solution is to use a </a:t>
            </a:r>
            <a:r>
              <a:rPr lang="en-US" altLang="ko-KR" sz="1600" b="1" i="0" dirty="0">
                <a:solidFill>
                  <a:srgbClr val="FF0066"/>
                </a:solidFill>
                <a:effectLst/>
                <a:highlight>
                  <a:srgbClr val="EFEFF0"/>
                </a:highlight>
              </a:rPr>
              <a:t>protein-based chromophore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to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bind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to the </a:t>
            </a:r>
            <a:r>
              <a:rPr lang="en-US" altLang="ko-KR" sz="1600" b="0" i="0" dirty="0">
                <a:solidFill>
                  <a:srgbClr val="990099"/>
                </a:solidFill>
                <a:effectLst/>
                <a:highlight>
                  <a:srgbClr val="EFEFF0"/>
                </a:highlight>
              </a:rPr>
              <a:t>outer layer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</a:rPr>
              <a:t> of the hair. This is a much safer alternative as it reduces the need for harsh chemicals and bleaching to get pigments into the hair (Figure 1).</a:t>
            </a:r>
            <a:endParaRPr lang="ko-KR" altLang="en-US" sz="16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C205901-D2EB-3FF8-78F5-22CB92D9D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63" y="1794298"/>
            <a:ext cx="6667195" cy="405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13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90742F-156C-7B3C-DE7E-B9046363F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680" y="710327"/>
            <a:ext cx="1965960" cy="1325563"/>
          </a:xfrm>
        </p:spPr>
        <p:txBody>
          <a:bodyPr>
            <a:normAutofit/>
          </a:bodyPr>
          <a:lstStyle/>
          <a:p>
            <a:r>
              <a:rPr lang="ko-KR" altLang="en-US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테트라사이클린이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없는 경우에는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TetR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단백질이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operon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의 발현을 억제하여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tetA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의 발현을 막습니다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. 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그러나 </a:t>
            </a:r>
            <a:r>
              <a:rPr lang="ko-KR" altLang="en-US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테트라사이클린이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존재하는 경우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, </a:t>
            </a:r>
            <a:r>
              <a:rPr lang="ko-KR" altLang="en-US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테트라사이클린과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TetR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사이의 상호 작용으로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TetR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이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 operon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을 해제하고 </a:t>
            </a:r>
            <a:r>
              <a:rPr lang="en-US" altLang="ko-KR" sz="1000" b="0" i="0" dirty="0" err="1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tetA</a:t>
            </a:r>
            <a:r>
              <a:rPr lang="ko-KR" altLang="en-US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의 발현을 허용합니다</a:t>
            </a:r>
            <a:r>
              <a:rPr lang="en-US" altLang="ko-KR" sz="1000" b="0" i="0" dirty="0">
                <a:solidFill>
                  <a:srgbClr val="ECECEC"/>
                </a:solidFill>
                <a:effectLst/>
                <a:highlight>
                  <a:srgbClr val="000000"/>
                </a:highlight>
                <a:latin typeface="Söhne"/>
              </a:rPr>
              <a:t>. </a:t>
            </a:r>
            <a:endParaRPr lang="ko-KR" altLang="en-US" sz="1000" dirty="0">
              <a:highlight>
                <a:srgbClr val="000000"/>
              </a:highlight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E51C971B-2143-8705-C3AB-C98E6DDECA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1005" y="239554"/>
            <a:ext cx="7143750" cy="2362200"/>
          </a:xfr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F98B3A3-671A-969D-1418-216575ADDC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93713"/>
              </p:ext>
            </p:extLst>
          </p:nvPr>
        </p:nvGraphicFramePr>
        <p:xfrm>
          <a:off x="233680" y="2506662"/>
          <a:ext cx="10800080" cy="46085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6602">
                  <a:extLst>
                    <a:ext uri="{9D8B030D-6E8A-4147-A177-3AD203B41FA5}">
                      <a16:colId xmlns:a16="http://schemas.microsoft.com/office/drawing/2014/main" val="1090595279"/>
                    </a:ext>
                  </a:extLst>
                </a:gridCol>
                <a:gridCol w="2260482">
                  <a:extLst>
                    <a:ext uri="{9D8B030D-6E8A-4147-A177-3AD203B41FA5}">
                      <a16:colId xmlns:a16="http://schemas.microsoft.com/office/drawing/2014/main" val="193868739"/>
                    </a:ext>
                  </a:extLst>
                </a:gridCol>
                <a:gridCol w="950838">
                  <a:extLst>
                    <a:ext uri="{9D8B030D-6E8A-4147-A177-3AD203B41FA5}">
                      <a16:colId xmlns:a16="http://schemas.microsoft.com/office/drawing/2014/main" val="3530374462"/>
                    </a:ext>
                  </a:extLst>
                </a:gridCol>
                <a:gridCol w="950838">
                  <a:extLst>
                    <a:ext uri="{9D8B030D-6E8A-4147-A177-3AD203B41FA5}">
                      <a16:colId xmlns:a16="http://schemas.microsoft.com/office/drawing/2014/main" val="4000946854"/>
                    </a:ext>
                  </a:extLst>
                </a:gridCol>
                <a:gridCol w="950838">
                  <a:extLst>
                    <a:ext uri="{9D8B030D-6E8A-4147-A177-3AD203B41FA5}">
                      <a16:colId xmlns:a16="http://schemas.microsoft.com/office/drawing/2014/main" val="2236971284"/>
                    </a:ext>
                  </a:extLst>
                </a:gridCol>
                <a:gridCol w="753494">
                  <a:extLst>
                    <a:ext uri="{9D8B030D-6E8A-4147-A177-3AD203B41FA5}">
                      <a16:colId xmlns:a16="http://schemas.microsoft.com/office/drawing/2014/main" val="993691341"/>
                    </a:ext>
                  </a:extLst>
                </a:gridCol>
                <a:gridCol w="753494">
                  <a:extLst>
                    <a:ext uri="{9D8B030D-6E8A-4147-A177-3AD203B41FA5}">
                      <a16:colId xmlns:a16="http://schemas.microsoft.com/office/drawing/2014/main" val="1035011837"/>
                    </a:ext>
                  </a:extLst>
                </a:gridCol>
                <a:gridCol w="753494">
                  <a:extLst>
                    <a:ext uri="{9D8B030D-6E8A-4147-A177-3AD203B41FA5}">
                      <a16:colId xmlns:a16="http://schemas.microsoft.com/office/drawing/2014/main" val="1846034939"/>
                    </a:ext>
                  </a:extLst>
                </a:gridCol>
              </a:tblGrid>
              <a:tr h="1172278">
                <a:tc>
                  <a:txBody>
                    <a:bodyPr/>
                    <a:lstStyle/>
                    <a:p>
                      <a:pPr algn="l" fontAlgn="ctr"/>
                      <a:r>
                        <a:rPr lang="it-IT" sz="1000" u="none" strike="noStrike">
                          <a:effectLst/>
                        </a:rPr>
                        <a:t>Outer membrane peptide A (OmpA)</a:t>
                      </a:r>
                      <a:endParaRPr lang="it-IT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type II secretion system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cleaved by the secretion machinery in the plasma membrane of the bacterium.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secreted and released in an active mature form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reported high efficiency of secretion during high protein expression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gridSpan="3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N-terminal secretion signal sequences</a:t>
                      </a:r>
                      <a:endParaRPr lang="en-US" sz="800" b="0" i="0" u="none" strike="noStrike">
                        <a:solidFill>
                          <a:srgbClr val="80808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156879"/>
                  </a:ext>
                </a:extLst>
              </a:tr>
              <a:tr h="1609399">
                <a:tc>
                  <a:txBody>
                    <a:bodyPr/>
                    <a:lstStyle/>
                    <a:p>
                      <a:pPr algn="l" fontAlgn="ctr"/>
                      <a:r>
                        <a:rPr lang="el-GR" sz="1000" u="none" strike="noStrike" dirty="0">
                          <a:effectLst/>
                        </a:rPr>
                        <a:t>α-</a:t>
                      </a:r>
                      <a:r>
                        <a:rPr lang="en-US" sz="1000" u="none" strike="noStrike" dirty="0">
                          <a:effectLst/>
                        </a:rPr>
                        <a:t>hemolysin (</a:t>
                      </a:r>
                      <a:r>
                        <a:rPr lang="en-US" sz="1000" u="none" strike="noStrike" dirty="0" err="1">
                          <a:effectLst/>
                        </a:rPr>
                        <a:t>HylA</a:t>
                      </a:r>
                      <a:r>
                        <a:rPr lang="en-US" sz="1000" u="none" strike="noStrike" dirty="0">
                          <a:effectLst/>
                        </a:rPr>
                        <a:t>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type I secretion system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efficient secretion of active correctly folded proteins to the culture supernatant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from the bacterial cytoplasm to the extracellular medium without a periplasmic intermediate of tagged proteins.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not become cleaved after trafficking across the bacterial membrane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gridSpan="3"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C-terminal secretion signal</a:t>
                      </a:r>
                      <a:endParaRPr lang="en-US" sz="800" b="0" i="0" u="none" strike="noStrike">
                        <a:solidFill>
                          <a:srgbClr val="80808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948261"/>
                  </a:ext>
                </a:extLst>
              </a:tr>
              <a:tr h="298037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promoter (tetR)</a:t>
                      </a:r>
                      <a:endParaRPr lang="en-US" sz="800" b="0" i="0" u="none" strike="noStrike">
                        <a:solidFill>
                          <a:srgbClr val="80808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gridSpan="7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strongly regulated promoter, minimises leakiness to avoid toxic protein aggregation and allows controlled expression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852495"/>
                  </a:ext>
                </a:extLst>
              </a:tr>
              <a:tr h="1920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 dirty="0">
                          <a:effectLst/>
                        </a:rPr>
                        <a:t>terminators (</a:t>
                      </a:r>
                      <a:r>
                        <a:rPr lang="en-US" sz="800" u="none" strike="noStrike" dirty="0" err="1">
                          <a:effectLst/>
                        </a:rPr>
                        <a:t>rrnB</a:t>
                      </a:r>
                      <a:r>
                        <a:rPr lang="en-US" sz="800" u="none" strike="noStrike" dirty="0">
                          <a:effectLst/>
                        </a:rPr>
                        <a:t> T1 terminator</a:t>
                      </a:r>
                      <a:endParaRPr lang="en-US" sz="800" b="0" i="0" u="none" strike="noStrike" dirty="0">
                        <a:solidFill>
                          <a:srgbClr val="80808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extLst>
                  <a:ext uri="{0D108BD9-81ED-4DB2-BD59-A6C34878D82A}">
                    <a16:rowId xmlns:a16="http://schemas.microsoft.com/office/drawing/2014/main" val="416819365"/>
                  </a:ext>
                </a:extLst>
              </a:tr>
              <a:tr h="1920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u="none" strike="noStrike">
                          <a:effectLst/>
                        </a:rPr>
                        <a:t>T7 terminator</a:t>
                      </a:r>
                      <a:endParaRPr lang="en-US" sz="800" b="0" i="0" u="none" strike="noStrike">
                        <a:solidFill>
                          <a:srgbClr val="80808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extLst>
                  <a:ext uri="{0D108BD9-81ED-4DB2-BD59-A6C34878D82A}">
                    <a16:rowId xmlns:a16="http://schemas.microsoft.com/office/drawing/2014/main" val="139638595"/>
                  </a:ext>
                </a:extLst>
              </a:tr>
              <a:tr h="29803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hydrophobic tag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gridSpan="7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we decided to adapt this to enable our </a:t>
                      </a:r>
                      <a:r>
                        <a:rPr lang="en-US" sz="1000" u="none" strike="noStrike" dirty="0" err="1">
                          <a:effectLst/>
                        </a:rPr>
                        <a:t>coloured</a:t>
                      </a:r>
                      <a:r>
                        <a:rPr lang="en-US" sz="1000" u="none" strike="noStrike" dirty="0">
                          <a:effectLst/>
                        </a:rPr>
                        <a:t> proteins to embed in the hydrophobic beta-layer of the cortex of hair.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able to interact with the cuticle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6485646"/>
                  </a:ext>
                </a:extLst>
              </a:tr>
              <a:tr h="58945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pBBR1 origin of replication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the second highest copy number plasmid with around 20 copies per cell from BglBrick plasmids library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gridSpan="6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 err="1">
                          <a:effectLst/>
                        </a:rPr>
                        <a:t>maximise</a:t>
                      </a:r>
                      <a:r>
                        <a:rPr lang="en-US" sz="1000" u="none" strike="noStrike" dirty="0">
                          <a:effectLst/>
                        </a:rPr>
                        <a:t> production and lower cell burden by cloning the hair repair (decapeptide)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623" marR="6623" marT="6623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9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422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072901-880E-2C73-AF72-B48E96DF7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191920" cy="662397"/>
          </a:xfrm>
        </p:spPr>
        <p:txBody>
          <a:bodyPr>
            <a:normAutofit fontScale="90000"/>
          </a:bodyPr>
          <a:lstStyle/>
          <a:p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DD56128-062B-7715-2C1D-06991A00CF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2182" y="2620075"/>
            <a:ext cx="5830977" cy="2681805"/>
          </a:xfr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560BC77-C446-A13D-CD4B-F2ECAB289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9" y="1000277"/>
            <a:ext cx="2976880" cy="137902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789E1CA-4033-0DBE-3589-306F43962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859" y="1000277"/>
            <a:ext cx="2840187" cy="137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985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6CFD4-FC26-365B-653C-982A389C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F79D043-E42B-30C3-4983-ACED78442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" y="1970199"/>
            <a:ext cx="2443480" cy="149531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5D3FAE3-5202-9F22-C2E2-DEAD10711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0" y="3928768"/>
            <a:ext cx="2443480" cy="1394900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240B2C1-DF15-49C0-D6DB-48B62E927D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663441" y="2020393"/>
            <a:ext cx="7178039" cy="123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22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88D42-3855-AD6D-64CF-913C497D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E93EA58D-ECB7-ADDE-EF8D-134C14EF5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0920" y="2777739"/>
            <a:ext cx="3636010" cy="209019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BB21AB-32E7-7E23-0B3A-904B66151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430" y="672805"/>
            <a:ext cx="3636010" cy="30454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CA832B-EDA2-63B1-1F1B-C1D2B7378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431" y="3740163"/>
            <a:ext cx="3636424" cy="259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6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A157D-AEFD-8404-7FF0-E2BB776A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949E6D-C602-C332-9325-5C1C299A8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120" y="6112689"/>
            <a:ext cx="5643880" cy="480695"/>
          </a:xfrm>
        </p:spPr>
        <p:txBody>
          <a:bodyPr/>
          <a:lstStyle/>
          <a:p>
            <a:r>
              <a:rPr lang="en-US" altLang="ko-KR" b="0" i="0" u="sng" dirty="0" err="1">
                <a:solidFill>
                  <a:srgbClr val="376FAA"/>
                </a:solidFill>
                <a:effectLst/>
                <a:highlight>
                  <a:srgbClr val="FFFFFF"/>
                </a:highlight>
                <a:latin typeface="Helvetica Neue"/>
                <a:hlinkClick r:id="rId2"/>
              </a:rPr>
              <a:t>Cureus</a:t>
            </a:r>
            <a:r>
              <a:rPr lang="en-US" altLang="ko-KR" b="0" i="0" u="sng" dirty="0">
                <a:solidFill>
                  <a:srgbClr val="376FAA"/>
                </a:solidFill>
                <a:effectLst/>
                <a:highlight>
                  <a:srgbClr val="FFFFFF"/>
                </a:highlight>
                <a:latin typeface="Helvetica Neue"/>
                <a:hlinkClick r:id="rId2"/>
              </a:rPr>
              <a:t>.</a:t>
            </a:r>
            <a:r>
              <a:rPr lang="en-US" altLang="ko-KR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Helvetica Neue"/>
              </a:rPr>
              <a:t> 2023 Jul; 15(7): e41418.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1F9EA-A178-D29F-1241-E40532F92565}"/>
              </a:ext>
            </a:extLst>
          </p:cNvPr>
          <p:cNvSpPr txBox="1"/>
          <p:nvPr/>
        </p:nvSpPr>
        <p:spPr>
          <a:xfrm>
            <a:off x="629920" y="4653280"/>
            <a:ext cx="8686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0" i="0" dirty="0">
                <a:solidFill>
                  <a:srgbClr val="E2EEFF"/>
                </a:solidFill>
                <a:effectLst/>
                <a:highlight>
                  <a:srgbClr val="3A3F50"/>
                </a:highlight>
                <a:latin typeface="Apple SD Gothic Neo"/>
              </a:rPr>
              <a:t>increases the growth of cells that make pigment</a:t>
            </a:r>
          </a:p>
          <a:p>
            <a:r>
              <a:rPr lang="en-US" altLang="ko-KR" b="0" i="0" dirty="0">
                <a:effectLst/>
                <a:highlight>
                  <a:srgbClr val="1F1F1F"/>
                </a:highlight>
                <a:latin typeface="Apple SD Gothic Neo"/>
              </a:rPr>
              <a:t> </a:t>
            </a:r>
            <a:r>
              <a:rPr lang="en-US" altLang="ko-KR" b="0" i="0" dirty="0">
                <a:solidFill>
                  <a:srgbClr val="BDC1C6"/>
                </a:solidFill>
                <a:effectLst/>
                <a:highlight>
                  <a:srgbClr val="1F1F1F"/>
                </a:highlight>
                <a:latin typeface="Apple SD Gothic Neo"/>
              </a:rPr>
              <a:t>The </a:t>
            </a:r>
            <a:r>
              <a:rPr lang="en-US" altLang="ko-KR" b="1" i="0" dirty="0">
                <a:solidFill>
                  <a:srgbClr val="BCC0C3"/>
                </a:solidFill>
                <a:effectLst/>
                <a:highlight>
                  <a:srgbClr val="1F1F1F"/>
                </a:highlight>
                <a:latin typeface="Apple SD Gothic Neo"/>
              </a:rPr>
              <a:t>psychosocial impact of vitiligo</a:t>
            </a:r>
            <a:r>
              <a:rPr lang="en-US" altLang="ko-KR" b="0" i="0" dirty="0">
                <a:solidFill>
                  <a:srgbClr val="BDC1C6"/>
                </a:solidFill>
                <a:effectLst/>
                <a:highlight>
                  <a:srgbClr val="1F1F1F"/>
                </a:highlight>
                <a:latin typeface="Apple SD Gothic Neo"/>
              </a:rPr>
              <a:t> on patients emphasizes the need for increased focus on its management. </a:t>
            </a:r>
          </a:p>
          <a:p>
            <a:r>
              <a:rPr lang="ko-KR" altLang="en-US" dirty="0">
                <a:solidFill>
                  <a:srgbClr val="BDC1C6"/>
                </a:solidFill>
                <a:highlight>
                  <a:srgbClr val="1F1F1F"/>
                </a:highlight>
                <a:latin typeface="Apple SD Gothic Neo"/>
              </a:rPr>
              <a:t>치료용 약물</a:t>
            </a:r>
            <a:endParaRPr lang="ko-KR" altLang="en-US" dirty="0"/>
          </a:p>
        </p:txBody>
      </p:sp>
      <p:pic>
        <p:nvPicPr>
          <p:cNvPr id="8" name="그림 7" descr="도표, 라인, 지도, 텍스트이(가) 표시된 사진&#10;&#10;자동 생성된 설명">
            <a:extLst>
              <a:ext uri="{FF2B5EF4-FFF2-40B4-BE49-F238E27FC236}">
                <a16:creationId xmlns:a16="http://schemas.microsoft.com/office/drawing/2014/main" id="{4DE033F6-58DF-8940-243C-7569031779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287" y="1200447"/>
            <a:ext cx="3193753" cy="31937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8EE39C-4AE0-7917-0C15-DBFE5E1EFFA0}"/>
              </a:ext>
            </a:extLst>
          </p:cNvPr>
          <p:cNvSpPr txBox="1"/>
          <p:nvPr/>
        </p:nvSpPr>
        <p:spPr>
          <a:xfrm>
            <a:off x="6380480" y="2418080"/>
            <a:ext cx="518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  <a:latin typeface="-apple-system"/>
              </a:rPr>
              <a:t>We selected this peptide due its affinity for hair; high straightening 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EFEFF0"/>
                </a:highlight>
                <a:latin typeface="-apple-system"/>
              </a:rPr>
              <a:t>efficiency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  <a:latin typeface="-apple-system"/>
              </a:rPr>
              <a:t> at low concentrations and 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EFEFF0"/>
                </a:highlight>
                <a:latin typeface="-apple-system"/>
              </a:rPr>
              <a:t>straightening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EFEFF0"/>
                </a:highlight>
                <a:latin typeface="-apple-system"/>
              </a:rPr>
              <a:t> properties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8402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48CF8-9003-C3F7-687A-30C2B7791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B4178A-E230-8883-F99A-D46FB38D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84069"/>
            <a:ext cx="6867838" cy="199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591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62EC-0662-D72E-8E47-A3D057089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F3F1FE2-3D6D-790B-8068-D42E1B325E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3659" y="1690688"/>
            <a:ext cx="4481359" cy="377539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09D9B6-C304-C06F-A2B1-C33C86965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718" y="1690688"/>
            <a:ext cx="6025789" cy="377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424</Words>
  <Application>Microsoft Office PowerPoint</Application>
  <PresentationFormat>와이드스크린</PresentationFormat>
  <Paragraphs>32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Apple SD Gothic Neo</vt:lpstr>
      <vt:lpstr>-apple-system</vt:lpstr>
      <vt:lpstr>Helvetica Neue</vt:lpstr>
      <vt:lpstr>Söhne</vt:lpstr>
      <vt:lpstr>맑은 고딕</vt:lpstr>
      <vt:lpstr>Arial</vt:lpstr>
      <vt:lpstr>Segoe UI</vt:lpstr>
      <vt:lpstr>Office 테마</vt:lpstr>
      <vt:lpstr>PowerPoint 프레젠테이션</vt:lpstr>
      <vt:lpstr>PowerPoint 프레젠테이션</vt:lpstr>
      <vt:lpstr>테트라사이클린이 없는 경우에는 TetR 단백질이 tet operon의 발현을 억제하여 tetA의 발현을 막습니다. 그러나 테트라사이클린이 존재하는 경우, 테트라사이클린과 TetR 사이의 상호 작용으로 TetR이 tet operon을 해제하고 tetA의 발현을 허용합니다.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지현 유</dc:creator>
  <cp:lastModifiedBy>지현 유</cp:lastModifiedBy>
  <cp:revision>2</cp:revision>
  <dcterms:created xsi:type="dcterms:W3CDTF">2024-04-21T07:09:04Z</dcterms:created>
  <dcterms:modified xsi:type="dcterms:W3CDTF">2024-04-22T15:10:22Z</dcterms:modified>
</cp:coreProperties>
</file>